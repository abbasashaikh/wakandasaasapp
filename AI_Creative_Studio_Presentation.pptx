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F1A4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A12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097280"/>
          </a:xfrm>
          <a:prstGeom prst="rect">
            <a:avLst/>
          </a:prstGeom>
          <a:solidFill>
            <a:srgbClr val="0F1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219456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 Creative Studio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Proof of Concept — Client Presentation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Enterprise AI Image &amp; Video Generation Platform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91840"/>
            <a:ext cx="320040" cy="3200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291840"/>
            <a:ext cx="320040" cy="32004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32918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86000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Powered by Google Veo 3 &amp; Imagen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68580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CC"/>
                </a:solidFill>
              </a:rPr>
              <a:t>April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What we will cover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 Creative Studio —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2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1148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051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Business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271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Why AI content creation matters now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828800"/>
            <a:ext cx="41148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116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Proposed 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2311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What we built and how it works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788920"/>
            <a:ext cx="41148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9718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862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Live Architecture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1912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Technical stack and data flow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49040"/>
            <a:ext cx="41148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931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3822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Demo Walkthrough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151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Image and video generation in action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86868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868680"/>
            <a:ext cx="41148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1051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Benefits &amp; ROI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1271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Time saved, cost reduced, scale achieved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182880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1828800"/>
            <a:ext cx="41148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20116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4924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Risks &amp; Mitigations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22311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What we know and how we handle it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78892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2788920"/>
            <a:ext cx="41148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4864608" y="29718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07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49240" y="2862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49240" y="31912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Roadmap to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Business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Where teams lose time and money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 Creative Studio —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3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6634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914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Content Creation Bottleneck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" y="1426464"/>
            <a:ext cx="164592" cy="16459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3898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Hiring designers and videographers costs $50–150 per asset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1956816"/>
            <a:ext cx="164592" cy="16459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Agency turnaround: 3–10 business days per creative request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487168"/>
            <a:ext cx="164592" cy="16459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4505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Marketing teams wait weeks for product visuals and promo clips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017520"/>
            <a:ext cx="164592" cy="16459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9809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Iterating on creative concepts requires full production cycles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3547872"/>
            <a:ext cx="164592" cy="16459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51129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Scaling content volume is linearly tied to headcount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822960"/>
            <a:ext cx="356616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57800" y="896112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72%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83680" y="960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of marketers say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content volume 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their top challenge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2057400"/>
            <a:ext cx="356616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57800" y="2130552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$180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583680" y="2194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average cost 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short video clip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with traditional production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3291840"/>
            <a:ext cx="356616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3364992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8 days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583680" y="3429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average turnaround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 a single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creative asset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Proposed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AI Creative Studio — what it 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 Creative Studio —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4 / 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</a:rPr>
              <a:t>A licensed desktop application that gives your team on-demand, enterprise-grade AI image and video generation — in under 60 seconds per asset.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67335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AI Image Generation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18379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Text-to-image in seconds using Google Imagen. Multiple aspect ratios. One-click download.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4173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67335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AI Video Generation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40680" y="18379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Text-to-video using Google Veo 3. 4s–8s clips. Fast and HD quality modes.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74320" y="2587752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843784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License Key Access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60120" y="30083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Secure per-user licensing. Each client instance authenticated independently.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54880" y="2587752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843784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Desktop App (Electron)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40680" y="30083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Native Windows/Mac app. No browser dependency. Works offline for generation UI.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74320" y="375818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14216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3849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Queue-Based Backend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60120" y="4178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Node.js + BullMQ + Redis. Jobs queued, tracked, retried. Never lose a request.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754880" y="375818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014216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40680" y="3849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Session Management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440680" y="4178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Automatic session keepalive. Cookie refresh flow. Graceful expiry handling.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How the components connect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 Creative Studio —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5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8321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CLIENT LAYER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069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Electron Desktop App (React + Vite)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051560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069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License Key Auth UI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1069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Image &amp; Video Pages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75120" y="1051560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93408" y="1069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Job Status Polling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664208"/>
            <a:ext cx="8595360" cy="777240"/>
          </a:xfrm>
          <a:prstGeom prst="rect">
            <a:avLst/>
          </a:prstGeom>
          <a:solidFill>
            <a:srgbClr val="7B5E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1719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API LAYER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1938528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19568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Node.js / Express REST API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68880" y="1938528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487168" y="19568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JWT + License Key Middleware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0" y="1938528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90288" y="19568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POST /generate/image  |  POST /generate/video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75120" y="1938528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693408" y="19568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GET /jobs/:id  •  GET /health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551176"/>
            <a:ext cx="8595360" cy="77724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QUEUE LAYER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5760" y="2825496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2843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BullMQ Job Queue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68880" y="2825496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487168" y="2843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Concurrency = 1 (sequential safety)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2825496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90288" y="2843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lockDuration = 10 min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75120" y="2825496"/>
            <a:ext cx="202996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693408" y="2843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Attempts = 2 (auto-retry)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438144"/>
            <a:ext cx="4114800" cy="868680"/>
          </a:xfrm>
          <a:prstGeom prst="rect">
            <a:avLst/>
          </a:prstGeom>
          <a:solidFill>
            <a:srgbClr val="C15A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1480" y="3493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BROWSER LAYER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5760" y="3712464"/>
            <a:ext cx="90982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3730752"/>
            <a:ext cx="891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Playwright + Stealth Plugin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348740" y="3712464"/>
            <a:ext cx="90982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367028" y="3730752"/>
            <a:ext cx="891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Flow Browser Automation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331720" y="3712464"/>
            <a:ext cx="90982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350008" y="3730752"/>
            <a:ext cx="891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reCAPTCHA-safe session mgmt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14700" y="3712464"/>
            <a:ext cx="90982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332988" y="3730752"/>
            <a:ext cx="891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Warm page keepalive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54880" y="3438144"/>
            <a:ext cx="4114800" cy="86868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92040" y="3493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AI LAYER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846320" y="3712464"/>
            <a:ext cx="90982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864608" y="3730752"/>
            <a:ext cx="891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Google Flow (labs.google)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829300" y="3712464"/>
            <a:ext cx="90982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847588" y="3730752"/>
            <a:ext cx="891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Imagen — Image generation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812280" y="3712464"/>
            <a:ext cx="90982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830568" y="3730752"/>
            <a:ext cx="891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Veo 3 — Video generation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795260" y="3712464"/>
            <a:ext cx="909828" cy="475488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813548" y="3730752"/>
            <a:ext cx="891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batchCheckAsyncVideoGenerationStatus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89120" y="3703320"/>
            <a:ext cx="36576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4407408" y="36941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↔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Generation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End-to-end flow for image and video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 Creative Studio —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6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1325880" cy="3474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024128"/>
            <a:ext cx="457200" cy="45720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" y="162763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Types Prompt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2240280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Desktop 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Enter to submit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45336" y="21488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09344" y="914400"/>
            <a:ext cx="1325880" cy="3474720"/>
          </a:xfrm>
          <a:prstGeom prst="rect">
            <a:avLst/>
          </a:prstGeom>
          <a:solidFill>
            <a:srgbClr val="7B5E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39112" y="1024128"/>
            <a:ext cx="457200" cy="45720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039112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5EA7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82496" y="162763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Job Queued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82496" y="2240280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BullMQ assigns 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 response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21488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90088" y="914400"/>
            <a:ext cx="1325880" cy="347472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19856" y="1024128"/>
            <a:ext cx="457200" cy="45720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19856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63240" y="162763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Browser Automation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2240280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Playwright opens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Flow project page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06824" y="21488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70832" y="914400"/>
            <a:ext cx="1325880" cy="3474720"/>
          </a:xfrm>
          <a:prstGeom prst="rect">
            <a:avLst/>
          </a:prstGeom>
          <a:solidFill>
            <a:srgbClr val="C15A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024128"/>
            <a:ext cx="457200" cy="45720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5A00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43984" y="162763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Generates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43984" y="2240280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Imagen / Veo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processes prompt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87568" y="21488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51576" y="914400"/>
            <a:ext cx="1325880" cy="347472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1024128"/>
            <a:ext cx="457200" cy="45720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181344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24728" y="162763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Poll for Result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24728" y="2240280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batchCheck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every 5 seconds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68312" y="21488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132320" y="914400"/>
            <a:ext cx="1325880" cy="347472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62088" y="1024128"/>
            <a:ext cx="457200" cy="45720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562088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05472" y="162763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URL Returned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05472" y="2240280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Signed GCS URL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delivered to UI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4526280"/>
            <a:ext cx="8686800" cy="3657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74320" y="45445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⏱  Image: ~8 seconds    |    Video: ~50 seconds    |    No manual steps required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Demo Highlights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Key capabilities shown in the walkthrough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 Creative Studio —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7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4206240" cy="457200"/>
          </a:xfrm>
          <a:prstGeom prst="rect">
            <a:avLst/>
          </a:prstGeom>
          <a:solidFill>
            <a:srgbClr val="7B5EA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77824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8778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Image Generation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7160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13533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Type any prompt → image generated in ~8s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92224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17739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Aspect ratios: 16:9, 9:16, 1:1, 4:3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21284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21945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One-click download of generated asset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754880" y="80467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754880" y="804672"/>
            <a:ext cx="4206240" cy="4572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877824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57800" y="8778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Video Generation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1371600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12080" y="13533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Text-to-video via Google Veo 3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1792224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12080" y="17739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4s or 8s clips · Fast or HD mode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2212848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12080" y="21945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~50s generation · Progress bar UI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274320" y="286207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274320" y="2862072"/>
            <a:ext cx="4206240" cy="4572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" y="2935224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77240" y="29352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License Key Auth</a:t>
            </a:r>
            <a:endParaRPr lang="en-US" sz="13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12" y="3429000"/>
            <a:ext cx="201168" cy="20116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31520" y="34107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Key validated before app access</a:t>
            </a:r>
            <a:endParaRPr lang="en-US" sz="10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912" y="3849624"/>
            <a:ext cx="201168" cy="20116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731520" y="38313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Per-user or per-company licensing</a:t>
            </a:r>
            <a:endParaRPr lang="en-US" sz="10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912" y="4270248"/>
            <a:ext cx="201168" cy="20116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731520" y="42519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Secure API key middleware</a:t>
            </a:r>
            <a:endParaRPr lang="en-US" sz="1000" dirty="0"/>
          </a:p>
        </p:txBody>
      </p:sp>
      <p:sp>
        <p:nvSpPr>
          <p:cNvPr id="38" name="Shape 24"/>
          <p:cNvSpPr/>
          <p:nvPr/>
        </p:nvSpPr>
        <p:spPr>
          <a:xfrm>
            <a:off x="4754880" y="286207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25"/>
          <p:cNvSpPr/>
          <p:nvPr/>
        </p:nvSpPr>
        <p:spPr>
          <a:xfrm>
            <a:off x="4754880" y="2862072"/>
            <a:ext cx="4206240" cy="4572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64608" y="2935224"/>
            <a:ext cx="292608" cy="29260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5257800" y="29352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Job Tracking</a:t>
            </a:r>
            <a:endParaRPr lang="en-US" sz="13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9472" y="3429000"/>
            <a:ext cx="201168" cy="20116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5212080" y="34107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Real-time status polling every 3s</a:t>
            </a:r>
            <a:endParaRPr lang="en-US" sz="100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9472" y="3849624"/>
            <a:ext cx="201168" cy="201168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5212080" y="38313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Job ID persisted in SQLite</a:t>
            </a:r>
            <a:endParaRPr lang="en-US" sz="1000" dirty="0"/>
          </a:p>
        </p:txBody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19472" y="4270248"/>
            <a:ext cx="201168" cy="201168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5212080" y="42519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Graceful retry on failure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Benefits &amp; ROI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The measurable value of this solution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 Creative Studio —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8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20116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8595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95%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1435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vs. traditional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design workflow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50592" y="804672"/>
            <a:ext cx="20116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96312" y="8595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~$0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96312" y="1435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 Asset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96312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after licensing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vs. $50–180 each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26864" y="804672"/>
            <a:ext cx="20116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8595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∞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72584" y="1435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2584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generate as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assets as credits allow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03136" y="804672"/>
            <a:ext cx="20116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48856" y="8595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&lt; 60s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48856" y="1435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 Video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48856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Veo 3 Fast mode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average generation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359152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679192"/>
            <a:ext cx="384048" cy="38404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60120" y="2450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Team Productivity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0120" y="27980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Marketing and creative teams generate on-demand assets without waiting for design resources.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54880" y="2359152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679192"/>
            <a:ext cx="384048" cy="38404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440680" y="2450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Rapid Iteration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440680" y="27980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Test 10 visual concepts in the time it previously took to produce one. Fail fast, win faster.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74320" y="3621024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941064"/>
            <a:ext cx="384048" cy="38404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60120" y="37124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Brand Consistency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960120" y="40599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Prompt templates ensure on-brand visuals every time, without creative director approval loops.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754880" y="3621024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941064"/>
            <a:ext cx="384048" cy="38404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440680" y="37124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Easy Integration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440680" y="40599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REST API + license key model means any internal tool can call generation on behalf of users.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Risks &amp; Mitigations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Known constraints and how we handle them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 Creative Studio —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9 / 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This is a Proof of Concept built on browser automation. We are transparent about the risks and have a clear production path.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98448"/>
            <a:ext cx="68580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" y="148132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24128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reCAPTCHA Blocking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1627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Risk: Google Flow detects automation and blocks repeated requests.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43400" y="1371600"/>
            <a:ext cx="18288" cy="5120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389888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✓ Stealth browser mode, warm-page session management, 5s rate limiting between requests. One generation per session works reliably.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048256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048256"/>
            <a:ext cx="685800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" y="223113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24128" y="2103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UI Change Dependency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Risk: Flow UI updates (new dialogs, changed selectors) can break automation.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43400" y="2121408"/>
            <a:ext cx="18288" cy="5120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2139696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✓ dismissPopups() handles all known modal types. Selectors are robust. Alert monitoring recommended.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798064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98064"/>
            <a:ext cx="685800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" y="2980944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24128" y="2852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Session Expiry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3127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Risk: Google session cookies expire every 7 days.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43400" y="2871216"/>
            <a:ext cx="18288" cy="5120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434840" y="2889504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✓ captureSession.js script refreshes cookie in 2 minutes. Documented SOP for operators.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547872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547872"/>
            <a:ext cx="685800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" y="373075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24128" y="3602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Credit Consumption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24128" y="3877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Risk: Each video uses 10 credits. Double-generation bug previously doubled cost.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43400" y="3621024"/>
            <a:ext cx="18288" cy="5120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4434840" y="3639312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✓ Fixed: Enter-only trigger ensures single generation per request. x1 output enforced.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29768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297680"/>
            <a:ext cx="685800" cy="658368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39" name="Text 37"/>
          <p:cNvSpPr/>
          <p:nvPr/>
        </p:nvSpPr>
        <p:spPr>
          <a:xfrm>
            <a:off x="283464" y="448056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FUTURE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024128" y="4352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Multi-User Scale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24128" y="4626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Risk: Browser automation cannot scale to 10+ concurrent users.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343400" y="4370832"/>
            <a:ext cx="18288" cy="5120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3" name="Text 41"/>
          <p:cNvSpPr/>
          <p:nvPr/>
        </p:nvSpPr>
        <p:spPr>
          <a:xfrm>
            <a:off x="4434840" y="4389120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✓ Production path: Official Google Veo API (in preview) or alternative APIs (Runway, Kling).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Gaps &amp; Pre-Demo Checklist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What to prepare before the final client meeting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 Creative Studio —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10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2062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</a:rPr>
              <a:t>IDENTIFIED GAPS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80160"/>
            <a:ext cx="54864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 video in 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Generated video URLs expire after ~20 mins. Need persistent storage (S3/GCS).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38528"/>
            <a:ext cx="54864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9842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Single user 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2311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Concurrent multi-user access not yet supported.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96896"/>
            <a:ext cx="54864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6426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 branding config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8895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App name 'YourBrand' is a placeholder — needs client branding.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55264"/>
            <a:ext cx="54864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3009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 usage analytics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547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 dashboard showing generation count, credit usage, or user activity.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913632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913632"/>
            <a:ext cx="54864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9593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 error recovery UI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206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Failed jobs show raw error. Need user-friendly retry messaging.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804672"/>
            <a:ext cx="4206240" cy="36576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PRE-DEMO CHECKLIST</a:t>
            </a:r>
            <a:endParaRPr lang="en-US" sz="10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316736"/>
            <a:ext cx="228600" cy="2286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12064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Run node scripts/captureSession.js — verify fresh cookie</a:t>
            </a:r>
            <a:endParaRPr lang="en-US" sz="9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755648"/>
            <a:ext cx="228600" cy="2286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1206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Confirm Flow account has 50+ credits remaining</a:t>
            </a:r>
            <a:endParaRPr lang="en-US" sz="9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194560"/>
            <a:ext cx="228600" cy="2286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120640" y="2176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Test one image AND one video generation end-to-end</a:t>
            </a:r>
            <a:endParaRPr lang="en-US" sz="9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633472"/>
            <a:ext cx="228600" cy="2286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120640" y="26151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Ensure Chrome window is visible (position 100,100)</a:t>
            </a:r>
            <a:endParaRPr lang="en-US" sz="9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072384"/>
            <a:ext cx="228600" cy="2286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120640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Have backup prompts ready (simple = faster: 'a red ball rolling')</a:t>
            </a:r>
            <a:endParaRPr lang="en-US" sz="9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511296"/>
            <a:ext cx="228600" cy="2286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120640" y="3493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Restart backend 30 min before demo to avoid reCAPTCHA warmup</a:t>
            </a:r>
            <a:endParaRPr lang="en-US" sz="9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950208"/>
            <a:ext cx="228600" cy="22860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12064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Close all other Chrome windows on the machine</a:t>
            </a:r>
            <a:endParaRPr lang="en-US" sz="9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4389120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120640" y="4370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Prepare screen layout: app window + terminal side by side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Next Steps &amp; Roadmap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Path from POC to production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10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 Creative Studio —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11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057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04672"/>
            <a:ext cx="2057400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" y="822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" y="1078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POC Sign-Off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481328"/>
            <a:ext cx="1874520" cy="25603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" y="1490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</a:rPr>
              <a:t>Now — Week 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6616" y="1874520"/>
            <a:ext cx="109728" cy="10972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3794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Client approval of POC demo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" y="2404872"/>
            <a:ext cx="109728" cy="10972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682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Define production requirements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" y="2935224"/>
            <a:ext cx="109728" cy="10972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986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Agree API strategy (official vs automation)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6616" y="3465576"/>
            <a:ext cx="109728" cy="10972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290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Confirm branding &amp; app name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95144" y="228600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23160" y="804672"/>
            <a:ext cx="2057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23160" y="804672"/>
            <a:ext cx="2057400" cy="62179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5" name="Text 23"/>
          <p:cNvSpPr/>
          <p:nvPr/>
        </p:nvSpPr>
        <p:spPr>
          <a:xfrm>
            <a:off x="2496312" y="822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96312" y="1078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Production Foundation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14600" y="1481328"/>
            <a:ext cx="1874520" cy="25603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2532888" y="1490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EA7"/>
                </a:solidFill>
              </a:rPr>
              <a:t>Week 3 — 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51176" y="1874520"/>
            <a:ext cx="109728" cy="109728"/>
          </a:xfrm>
          <a:prstGeom prst="oval">
            <a:avLst/>
          </a:prstGeom>
          <a:solidFill>
            <a:srgbClr val="7B5EA7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0" y="183794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Switch to official Veo/Imagen API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51176" y="2404872"/>
            <a:ext cx="109728" cy="109728"/>
          </a:xfrm>
          <a:prstGeom prst="oval">
            <a:avLst/>
          </a:prstGeom>
          <a:solidFill>
            <a:srgbClr val="7B5EA7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23682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Add persistent media storage (S3/GCS)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51176" y="2935224"/>
            <a:ext cx="109728" cy="109728"/>
          </a:xfrm>
          <a:prstGeom prst="oval">
            <a:avLst/>
          </a:prstGeom>
          <a:solidFill>
            <a:srgbClr val="7B5EA7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0" y="28986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Multi-user auth (JWT / OAuth)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51176" y="3465576"/>
            <a:ext cx="109728" cy="109728"/>
          </a:xfrm>
          <a:prstGeom prst="oval">
            <a:avLst/>
          </a:prstGeom>
          <a:solidFill>
            <a:srgbClr val="7B5EA7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0" y="34290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Usage analytics dashboard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89704" y="228600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5EA7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617720" y="804672"/>
            <a:ext cx="2057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17720" y="804672"/>
            <a:ext cx="205740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0" name="Text 38"/>
          <p:cNvSpPr/>
          <p:nvPr/>
        </p:nvSpPr>
        <p:spPr>
          <a:xfrm>
            <a:off x="4690872" y="822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90872" y="1078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 &amp; Polish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1481328"/>
            <a:ext cx="1874520" cy="25603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43" name="Text 41"/>
          <p:cNvSpPr/>
          <p:nvPr/>
        </p:nvSpPr>
        <p:spPr>
          <a:xfrm>
            <a:off x="4727448" y="1490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</a:rPr>
              <a:t>Week 7 — 10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45736" y="1874520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183794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Client branding &amp; white-label build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45736" y="2404872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23682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Prompt templates &amp; brand presets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45736" y="2935224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49" name="Text 47"/>
          <p:cNvSpPr/>
          <p:nvPr/>
        </p:nvSpPr>
        <p:spPr>
          <a:xfrm>
            <a:off x="4937760" y="28986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panel: credit management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45736" y="3465576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0" y="34290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Error handling &amp; UX polish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84264" y="228600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812280" y="804672"/>
            <a:ext cx="2057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12280" y="804672"/>
            <a:ext cx="2057400" cy="6217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5" name="Text 53"/>
          <p:cNvSpPr/>
          <p:nvPr/>
        </p:nvSpPr>
        <p:spPr>
          <a:xfrm>
            <a:off x="6885432" y="822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85432" y="1078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Launch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903720" y="1481328"/>
            <a:ext cx="1874520" cy="256032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58" name="Text 56"/>
          <p:cNvSpPr/>
          <p:nvPr/>
        </p:nvSpPr>
        <p:spPr>
          <a:xfrm>
            <a:off x="6922008" y="1490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Week 11 — 12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940296" y="1874520"/>
            <a:ext cx="109728" cy="109728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60" name="Text 58"/>
          <p:cNvSpPr/>
          <p:nvPr/>
        </p:nvSpPr>
        <p:spPr>
          <a:xfrm>
            <a:off x="7132320" y="183794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UAT with client team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40296" y="2404872"/>
            <a:ext cx="109728" cy="109728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62" name="Text 60"/>
          <p:cNvSpPr/>
          <p:nvPr/>
        </p:nvSpPr>
        <p:spPr>
          <a:xfrm>
            <a:off x="7132320" y="23682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Load testing &amp; performance tuning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40296" y="2935224"/>
            <a:ext cx="109728" cy="109728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64" name="Text 62"/>
          <p:cNvSpPr/>
          <p:nvPr/>
        </p:nvSpPr>
        <p:spPr>
          <a:xfrm>
            <a:off x="7132320" y="28986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Documentation &amp; training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40296" y="3465576"/>
            <a:ext cx="109728" cy="109728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66" name="Text 64"/>
          <p:cNvSpPr/>
          <p:nvPr/>
        </p:nvSpPr>
        <p:spPr>
          <a:xfrm>
            <a:off x="7132320" y="34290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Production deployment &amp;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F1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0F1A4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82880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AI Creative Studio — Proof of 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Questions &amp; Discussion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920240" cy="118872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Ready for demo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Working POC — image &amp; video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3657600"/>
            <a:ext cx="1920240" cy="118872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to production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10–12 weeks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657600"/>
            <a:ext cx="1920240" cy="118872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 foundation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Solid, scalable, extensible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Creative Studio — Client Presentation</dc:title>
  <dc:subject>PptxGenJS Presentation</dc:subject>
  <dc:creator>YourBrand</dc:creator>
  <cp:lastModifiedBy>YourBrand</cp:lastModifiedBy>
  <cp:revision>1</cp:revision>
  <dcterms:created xsi:type="dcterms:W3CDTF">2026-04-18T05:28:01Z</dcterms:created>
  <dcterms:modified xsi:type="dcterms:W3CDTF">2026-04-18T05:28:01Z</dcterms:modified>
</cp:coreProperties>
</file>